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8128000" y="27559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&quot;Yeseva One&quot;"/>
              </a:rPr>
              <a:t>Transform Your Data Quality Journey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128000" y="4559300"/>
            <a:ext cx="7239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Discover SmartDQ: Your guide to data quality excellence and organizational trust at CACIB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128000" y="5600700"/>
            <a:ext cx="7239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2400" b="0">
                <a:solidFill>
                  <a:srgbClr val="000000"/>
                </a:solidFill>
                <a:latin typeface="&quot;Yeseva One&quot;"/>
              </a:rPr>
              <a:t>Internal Marketing Initiative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128000" y="60706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CACIB Data Quality Program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289300"/>
            <a:ext cx="14490700" cy="516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5" name="AutoShape 5"/>
          <p:cNvSpPr/>
          <p:nvPr/>
        </p:nvSpPr>
        <p:spPr>
          <a:xfrm>
            <a:off x="876300" y="3289300"/>
            <a:ext cx="3429000" cy="5168900"/>
          </a:xfrm>
          <a:prstGeom prst="roundRect">
            <a:avLst>
              <a:gd name="adj" fmla="val 1481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1130300" y="3530600"/>
            <a:ext cx="736600" cy="736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4559300" y="3289300"/>
            <a:ext cx="3429000" cy="5168900"/>
          </a:xfrm>
          <a:prstGeom prst="roundRect">
            <a:avLst>
              <a:gd name="adj" fmla="val 1481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4826000" y="3530600"/>
            <a:ext cx="736600" cy="736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AutoShape 9"/>
          <p:cNvSpPr/>
          <p:nvPr/>
        </p:nvSpPr>
        <p:spPr>
          <a:xfrm>
            <a:off x="8242300" y="3289300"/>
            <a:ext cx="3429000" cy="5168900"/>
          </a:xfrm>
          <a:prstGeom prst="roundRect">
            <a:avLst>
              <a:gd name="adj" fmla="val 1481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0" name="AutoShape 10"/>
          <p:cNvSpPr/>
          <p:nvPr/>
        </p:nvSpPr>
        <p:spPr>
          <a:xfrm>
            <a:off x="8509000" y="3530600"/>
            <a:ext cx="736600" cy="736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1" name="AutoShape 11"/>
          <p:cNvSpPr/>
          <p:nvPr/>
        </p:nvSpPr>
        <p:spPr>
          <a:xfrm>
            <a:off x="11938000" y="3289300"/>
            <a:ext cx="3429000" cy="5168900"/>
          </a:xfrm>
          <a:prstGeom prst="roundRect">
            <a:avLst>
              <a:gd name="adj" fmla="val 1481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2" name="AutoShape 12"/>
          <p:cNvSpPr/>
          <p:nvPr/>
        </p:nvSpPr>
        <p:spPr>
          <a:xfrm>
            <a:off x="12192000" y="3530600"/>
            <a:ext cx="736600" cy="736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3" name="TextBox 13"/>
          <p:cNvSpPr txBox="1"/>
          <p:nvPr/>
        </p:nvSpPr>
        <p:spPr>
          <a:xfrm>
            <a:off x="876300" y="6731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00" b="1">
                <a:solidFill>
                  <a:srgbClr val="000000"/>
                </a:solidFill>
                <a:latin typeface="&quot;Yeseva One&quot;"/>
              </a:rPr>
              <a:t>The Data Quality Crisis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15494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Yeseva One&quot;"/>
              </a:rPr>
              <a:t>The Journey Begins Here - A Story Every Organization Knows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521200"/>
            <a:ext cx="2921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E74C3C"/>
                </a:solidFill>
                <a:latin typeface="Poppins"/>
              </a:rPr>
              <a:t>Wrong Formats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4813300" y="4521200"/>
            <a:ext cx="2921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E74C3C"/>
                </a:solidFill>
                <a:latin typeface="Poppins"/>
              </a:rPr>
              <a:t>Missing Values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496300" y="4521200"/>
            <a:ext cx="2921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E74C3C"/>
                </a:solidFill>
                <a:latin typeface="Poppins"/>
              </a:rPr>
              <a:t>Data Inconsistency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179300" y="4521200"/>
            <a:ext cx="29210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E74C3C"/>
                </a:solidFill>
                <a:latin typeface="Poppins"/>
              </a:rPr>
              <a:t>Compliance Risk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" y="2273300"/>
            <a:ext cx="14490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Consider this scenario: As your organization grows, data quality issues emerge silently. How does this impact your business?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5613400"/>
            <a:ext cx="29210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 dirty="0">
                <a:solidFill>
                  <a:srgbClr val="000000"/>
                </a:solidFill>
                <a:latin typeface="&quot;Yeseva One&quot;"/>
              </a:rPr>
              <a:t>Multiple Formats across systems, skewing analytics and reporting accuracy. Financial impact multiplies.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4813300" y="5613400"/>
            <a:ext cx="29210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Critical fields remain unpopulated, creating blind spots in data completeness. Decision-makers work with incomplete information.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496300" y="5613400"/>
            <a:ext cx="2921000" cy="222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Different systems maintain conflicting versions of the same data. Integration failures cascade through operations.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2179300" y="5613400"/>
            <a:ext cx="2921000" cy="222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Data quality issues expose the organization to regulatory violations and audit failures. Risk escalates rapidly.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84300" y="3784600"/>
            <a:ext cx="241300" cy="241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67300" y="3784600"/>
            <a:ext cx="241300" cy="241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50300" y="3784600"/>
            <a:ext cx="241300" cy="24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33300" y="37846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3492500"/>
            <a:ext cx="9283700" cy="438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6083300" y="3492500"/>
            <a:ext cx="9283700" cy="214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6083300" y="6096000"/>
            <a:ext cx="9283700" cy="177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TextBox 8"/>
          <p:cNvSpPr txBox="1"/>
          <p:nvPr/>
        </p:nvSpPr>
        <p:spPr>
          <a:xfrm>
            <a:off x="6083300" y="1257300"/>
            <a:ext cx="9283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Yeseva One&quot;"/>
              </a:rPr>
              <a:t>Meet SmartDQ: Your Data Quality Guardian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83300" y="27559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Yeseva One&quot;"/>
              </a:rPr>
              <a:t>Your Enterprise Data Quality Solution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83300" y="3492500"/>
            <a:ext cx="9283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3498DB"/>
                </a:solidFill>
                <a:latin typeface="Poppins"/>
              </a:rPr>
              <a:t>Universal Framework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6083300" y="6096000"/>
            <a:ext cx="9283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3498DB"/>
                </a:solidFill>
                <a:latin typeface="Poppins"/>
              </a:rPr>
              <a:t>Comprehensive Quality Assessment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083300" y="4127500"/>
            <a:ext cx="9283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 dirty="0" err="1">
                <a:solidFill>
                  <a:srgbClr val="000000"/>
                </a:solidFill>
                <a:latin typeface="&quot;Yeseva One&quot;"/>
              </a:rPr>
              <a:t>SmartDQ</a:t>
            </a:r>
            <a:r>
              <a:rPr lang="en-US" sz="1900" b="0" dirty="0">
                <a:solidFill>
                  <a:srgbClr val="000000"/>
                </a:solidFill>
                <a:latin typeface="&quot;Yeseva One&quot;"/>
              </a:rPr>
              <a:t> is a reusable, enterprise-grade building </a:t>
            </a:r>
            <a:r>
              <a:rPr lang="en-US" sz="1900" dirty="0">
                <a:solidFill>
                  <a:srgbClr val="000000"/>
                </a:solidFill>
                <a:latin typeface="&quot;Yeseva One&quot;"/>
              </a:rPr>
              <a:t>block </a:t>
            </a:r>
            <a:r>
              <a:rPr lang="en-US" sz="1900" b="0" dirty="0">
                <a:solidFill>
                  <a:srgbClr val="000000"/>
                </a:solidFill>
                <a:latin typeface="&quot;Yeseva One&quot;"/>
              </a:rPr>
              <a:t>solution that works across any data source and environment. It seamlessly adapts to your technical architecture and organizational structure, providing consistent data quality governance.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6083300" y="6743700"/>
            <a:ext cx="9283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 dirty="0">
                <a:solidFill>
                  <a:srgbClr val="000000"/>
                </a:solidFill>
                <a:latin typeface="&quot;Yeseva One&quot;"/>
              </a:rPr>
              <a:t>Systematically monitors all 7 critical data quality dimensions. Provides continuous validation and intelligent pattern detection across your entire data ecosystem for reliable, actionable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146300"/>
            <a:ext cx="14490700" cy="588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5" name="AutoShape 5"/>
          <p:cNvSpPr/>
          <p:nvPr/>
        </p:nvSpPr>
        <p:spPr>
          <a:xfrm>
            <a:off x="876300" y="2146300"/>
            <a:ext cx="3429000" cy="2984500"/>
          </a:xfrm>
          <a:prstGeom prst="roundRect">
            <a:avLst>
              <a:gd name="adj" fmla="val 1702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1193800" y="2349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4559300" y="2146300"/>
            <a:ext cx="3429000" cy="2984500"/>
          </a:xfrm>
          <a:prstGeom prst="roundRect">
            <a:avLst>
              <a:gd name="adj" fmla="val 1702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4876800" y="2349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AutoShape 9"/>
          <p:cNvSpPr/>
          <p:nvPr/>
        </p:nvSpPr>
        <p:spPr>
          <a:xfrm>
            <a:off x="8242300" y="2146300"/>
            <a:ext cx="3429000" cy="2984500"/>
          </a:xfrm>
          <a:prstGeom prst="roundRect">
            <a:avLst>
              <a:gd name="adj" fmla="val 1702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0" name="AutoShape 10"/>
          <p:cNvSpPr/>
          <p:nvPr/>
        </p:nvSpPr>
        <p:spPr>
          <a:xfrm>
            <a:off x="8572500" y="2349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1" name="AutoShape 11"/>
          <p:cNvSpPr/>
          <p:nvPr/>
        </p:nvSpPr>
        <p:spPr>
          <a:xfrm>
            <a:off x="11938000" y="2146300"/>
            <a:ext cx="3429000" cy="2984500"/>
          </a:xfrm>
          <a:prstGeom prst="roundRect">
            <a:avLst>
              <a:gd name="adj" fmla="val 1702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2" name="AutoShape 12"/>
          <p:cNvSpPr/>
          <p:nvPr/>
        </p:nvSpPr>
        <p:spPr>
          <a:xfrm>
            <a:off x="12255500" y="2349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3" name="AutoShape 13"/>
          <p:cNvSpPr/>
          <p:nvPr/>
        </p:nvSpPr>
        <p:spPr>
          <a:xfrm>
            <a:off x="876300" y="5346700"/>
            <a:ext cx="4660900" cy="2679700"/>
          </a:xfrm>
          <a:prstGeom prst="roundRect">
            <a:avLst>
              <a:gd name="adj" fmla="val 1895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4" name="AutoShape 14"/>
          <p:cNvSpPr/>
          <p:nvPr/>
        </p:nvSpPr>
        <p:spPr>
          <a:xfrm>
            <a:off x="1193800" y="5549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5" name="AutoShape 15"/>
          <p:cNvSpPr/>
          <p:nvPr/>
        </p:nvSpPr>
        <p:spPr>
          <a:xfrm>
            <a:off x="5791200" y="5346700"/>
            <a:ext cx="4660900" cy="2679700"/>
          </a:xfrm>
          <a:prstGeom prst="roundRect">
            <a:avLst>
              <a:gd name="adj" fmla="val 1895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6" name="AutoShape 16"/>
          <p:cNvSpPr/>
          <p:nvPr/>
        </p:nvSpPr>
        <p:spPr>
          <a:xfrm>
            <a:off x="6108700" y="5549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7" name="AutoShape 17"/>
          <p:cNvSpPr/>
          <p:nvPr/>
        </p:nvSpPr>
        <p:spPr>
          <a:xfrm>
            <a:off x="10706100" y="5346700"/>
            <a:ext cx="4660900" cy="2679700"/>
          </a:xfrm>
          <a:prstGeom prst="roundRect">
            <a:avLst>
              <a:gd name="adj" fmla="val 1895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8" name="AutoShape 18"/>
          <p:cNvSpPr/>
          <p:nvPr/>
        </p:nvSpPr>
        <p:spPr>
          <a:xfrm>
            <a:off x="11023600" y="55499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AAD7"/>
          </a:solidFill>
        </p:spPr>
        <p:txBody>
          <a:bodyPr/>
          <a:lstStyle/>
          <a:p>
            <a:endParaRPr lang="en-SG"/>
          </a:p>
        </p:txBody>
      </p:sp>
      <p:sp>
        <p:nvSpPr>
          <p:cNvPr id="19" name="TextBox 19"/>
          <p:cNvSpPr txBox="1"/>
          <p:nvPr/>
        </p:nvSpPr>
        <p:spPr>
          <a:xfrm>
            <a:off x="876300" y="5588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&quot;Yeseva One&quot;"/>
              </a:rPr>
              <a:t>Building Trust in Data: A Fortress of Reliability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3175000"/>
            <a:ext cx="292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Exhaustivity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813300" y="3175000"/>
            <a:ext cx="292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Completeness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496300" y="3175000"/>
            <a:ext cx="292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Consistency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2179300" y="3175000"/>
            <a:ext cx="292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Accuracy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30300" y="63754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Timeliness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045200" y="63754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Conformity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0960100" y="63754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Validity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76300" y="1295400"/>
            <a:ext cx="14490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dirty="0">
                <a:solidFill>
                  <a:srgbClr val="000000"/>
                </a:solidFill>
                <a:latin typeface="&quot;Yeseva One&quot;"/>
              </a:rPr>
              <a:t>Effective data quality requires systematic assessment across seven key dimensions. Each dimension ensures your data meets enterprise standards.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1130300" y="3695700"/>
            <a:ext cx="29210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dirty="0">
                <a:solidFill>
                  <a:srgbClr val="000000"/>
                </a:solidFill>
                <a:latin typeface="&quot;Yeseva One&quot;"/>
              </a:rPr>
              <a:t>Ensures all required data is captured for your intended use cases</a:t>
            </a:r>
            <a:endParaRPr lang="en-US" sz="1100" dirty="0"/>
          </a:p>
        </p:txBody>
      </p:sp>
      <p:sp>
        <p:nvSpPr>
          <p:cNvPr id="29" name="TextBox 29"/>
          <p:cNvSpPr txBox="1"/>
          <p:nvPr/>
        </p:nvSpPr>
        <p:spPr>
          <a:xfrm>
            <a:off x="4813300" y="3695700"/>
            <a:ext cx="29210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Verifies that mandatory fields contain valid values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496300" y="3695700"/>
            <a:ext cx="29210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Confirms data aligns across systems and databases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2179300" y="3695700"/>
            <a:ext cx="29210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Validates that data correctly reflects reality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130300" y="6896100"/>
            <a:ext cx="41529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Ensures data is current and delivered within agreed timeframes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045200" y="6896100"/>
            <a:ext cx="4152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Confirms data meets structural and format standards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0960100" y="6896100"/>
            <a:ext cx="4152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Verifies data complies with defined business rules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76300" y="8255000"/>
            <a:ext cx="14490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&quot;Yeseva One&quot;"/>
              </a:rPr>
              <a:t>Together, these seven dimensions provide a comprehensive framework for enterprise data quality assurance.</a:t>
            </a:r>
            <a:endParaRPr lang="en-US" sz="110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1384300" y="2552700"/>
            <a:ext cx="241300" cy="203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"/>
          <a:srcRect t="14000" b="14000"/>
          <a:stretch>
            <a:fillRect/>
          </a:stretch>
        </p:blipFill>
        <p:spPr>
          <a:xfrm>
            <a:off x="5054600" y="2552700"/>
            <a:ext cx="279400" cy="203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8763000" y="2552700"/>
            <a:ext cx="215900" cy="203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rcRect t="8000" b="8000"/>
          <a:stretch>
            <a:fillRect/>
          </a:stretch>
        </p:blipFill>
        <p:spPr>
          <a:xfrm>
            <a:off x="12433300" y="2552700"/>
            <a:ext cx="241300" cy="203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rcRect t="8000" b="8000"/>
          <a:stretch>
            <a:fillRect/>
          </a:stretch>
        </p:blipFill>
        <p:spPr>
          <a:xfrm>
            <a:off x="1384300" y="5753100"/>
            <a:ext cx="241300" cy="20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8"/>
          <a:srcRect t="8000" b="8000"/>
          <a:stretch>
            <a:fillRect/>
          </a:stretch>
        </p:blipFill>
        <p:spPr>
          <a:xfrm>
            <a:off x="6299200" y="5753100"/>
            <a:ext cx="2413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9"/>
          <a:srcRect t="8000" b="8000"/>
          <a:stretch>
            <a:fillRect/>
          </a:stretch>
        </p:blipFill>
        <p:spPr>
          <a:xfrm>
            <a:off x="11214100" y="5753100"/>
            <a:ext cx="241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536700"/>
            <a:ext cx="14490700" cy="666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5" name="AutoShape 5"/>
          <p:cNvSpPr/>
          <p:nvPr/>
        </p:nvSpPr>
        <p:spPr>
          <a:xfrm>
            <a:off x="876300" y="15367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5283200" y="2857500"/>
            <a:ext cx="10020300" cy="12700"/>
          </a:xfrm>
          <a:prstGeom prst="roundRect">
            <a:avLst>
              <a:gd name="adj" fmla="val 50000"/>
            </a:avLst>
          </a:prstGeom>
          <a:solidFill>
            <a:srgbClr val="96ADDC"/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876300" y="28829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5994400" y="4191000"/>
            <a:ext cx="9296400" cy="12700"/>
          </a:xfrm>
          <a:prstGeom prst="roundRect">
            <a:avLst>
              <a:gd name="adj" fmla="val 50000"/>
            </a:avLst>
          </a:prstGeom>
          <a:solidFill>
            <a:srgbClr val="96ADDC"/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AutoShape 9"/>
          <p:cNvSpPr/>
          <p:nvPr/>
        </p:nvSpPr>
        <p:spPr>
          <a:xfrm>
            <a:off x="876300" y="42164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10" name="AutoShape 10"/>
          <p:cNvSpPr/>
          <p:nvPr/>
        </p:nvSpPr>
        <p:spPr>
          <a:xfrm>
            <a:off x="6718300" y="5537200"/>
            <a:ext cx="8585200" cy="12700"/>
          </a:xfrm>
          <a:prstGeom prst="roundRect">
            <a:avLst>
              <a:gd name="adj" fmla="val 50000"/>
            </a:avLst>
          </a:prstGeom>
          <a:solidFill>
            <a:srgbClr val="96ADDC"/>
          </a:solidFill>
        </p:spPr>
        <p:txBody>
          <a:bodyPr/>
          <a:lstStyle/>
          <a:p>
            <a:endParaRPr lang="en-SG"/>
          </a:p>
        </p:txBody>
      </p:sp>
      <p:sp>
        <p:nvSpPr>
          <p:cNvPr id="11" name="AutoShape 11"/>
          <p:cNvSpPr/>
          <p:nvPr/>
        </p:nvSpPr>
        <p:spPr>
          <a:xfrm>
            <a:off x="876300" y="55626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12" name="AutoShape 12"/>
          <p:cNvSpPr/>
          <p:nvPr/>
        </p:nvSpPr>
        <p:spPr>
          <a:xfrm>
            <a:off x="7429500" y="6883400"/>
            <a:ext cx="7861300" cy="12700"/>
          </a:xfrm>
          <a:prstGeom prst="roundRect">
            <a:avLst>
              <a:gd name="adj" fmla="val 50000"/>
            </a:avLst>
          </a:prstGeom>
          <a:solidFill>
            <a:srgbClr val="96ADDC"/>
          </a:solidFill>
        </p:spPr>
        <p:txBody>
          <a:bodyPr/>
          <a:lstStyle/>
          <a:p>
            <a:endParaRPr lang="en-SG"/>
          </a:p>
        </p:txBody>
      </p:sp>
      <p:sp>
        <p:nvSpPr>
          <p:cNvPr id="13" name="AutoShape 13"/>
          <p:cNvSpPr/>
          <p:nvPr/>
        </p:nvSpPr>
        <p:spPr>
          <a:xfrm>
            <a:off x="876300" y="69088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14" name="AutoShape 14"/>
          <p:cNvSpPr/>
          <p:nvPr/>
        </p:nvSpPr>
        <p:spPr>
          <a:xfrm>
            <a:off x="8153400" y="8229600"/>
            <a:ext cx="7150100" cy="12700"/>
          </a:xfrm>
          <a:prstGeom prst="roundRect">
            <a:avLst>
              <a:gd name="adj" fmla="val 50000"/>
            </a:avLst>
          </a:prstGeom>
          <a:solidFill>
            <a:srgbClr val="96ADDC"/>
          </a:solidFill>
        </p:spPr>
        <p:txBody>
          <a:bodyPr/>
          <a:lstStyle/>
          <a:p>
            <a:endParaRPr lang="en-SG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536700"/>
            <a:ext cx="977900" cy="129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0" y="2882900"/>
            <a:ext cx="1981200" cy="129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500" y="4216400"/>
            <a:ext cx="2997200" cy="129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5562600"/>
            <a:ext cx="4000500" cy="129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6908800"/>
            <a:ext cx="5016500" cy="129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76300" y="469900"/>
            <a:ext cx="14490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&quot;Yeseva One&quot;"/>
              </a:rPr>
              <a:t>The 5-Pillar Journey to Data Excellence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445000" y="2070100"/>
            <a:ext cx="27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5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5473700" y="1841500"/>
            <a:ext cx="5194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Business Process Modeling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419600" y="3416300"/>
            <a:ext cx="27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5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2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184900" y="3048000"/>
            <a:ext cx="8928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Rules Definition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419600" y="4749800"/>
            <a:ext cx="27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5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3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908800" y="4394200"/>
            <a:ext cx="8204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Rules Execution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4419600" y="6096000"/>
            <a:ext cx="27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5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4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7620000" y="5740400"/>
            <a:ext cx="749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DQ Publication &amp; Follow-Up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4419600" y="7442200"/>
            <a:ext cx="27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5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5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31200" y="7073900"/>
            <a:ext cx="6769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DQ Analytics &amp; Insights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76300" y="1079500"/>
            <a:ext cx="14490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The path to data excellence follows five critical stages, each building upon the last.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5473700" y="2273300"/>
            <a:ext cx="5194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Map your world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184900" y="3479800"/>
            <a:ext cx="89281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Define quality standards with AI-powered intelligence. Low-Code and No-Code options for rapid rule creation.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908800" y="4826000"/>
            <a:ext cx="82042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Validate with dual intelligence. Traditional rules catch what you expect, ML catches what you don't.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7620000" y="6172200"/>
            <a:ext cx="74930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Publish results and remediate. Transparent reporting drives action and continuous improvement.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331200" y="7518400"/>
            <a:ext cx="67691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Empower users with self-service analytics, alert analysis, and KPI generation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876300" y="8407400"/>
            <a:ext cx="14490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0">
                <a:solidFill>
                  <a:srgbClr val="000000"/>
                </a:solidFill>
                <a:latin typeface="&quot;Yeseva One&quot;"/>
              </a:rPr>
              <a:t>Together, these five pillars complete your journey from chaos to excellence.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8255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&quot;Yeseva One&quot;"/>
              </a:rPr>
              <a:t>Two Approaches to Data Quality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26797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Yeseva One&quot;"/>
              </a:rPr>
              <a:t>On-the-Fly Validation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432800" y="26797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&quot;Yeseva One&quot;"/>
              </a:rPr>
              <a:t>Remote Check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17145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SmartDQ offers flexible validation methods tailored to your needs.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3416300"/>
            <a:ext cx="692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Validates data in real-time as it flows through your systems. Ideal for transaction-based processing and immediate feedback scenarios.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30300" y="48514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Real-time validation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30300" y="54229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Transaction processing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60071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Immediate feedback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65913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Small to medium volumes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432800" y="3416300"/>
            <a:ext cx="692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Performs quality assessment without data movement. Designed for large-volume analysis and scheduled batch operations.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686800" y="48514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No data movement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686800" y="54229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Large-scale analysis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686800" y="60071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Scalable processing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686800" y="65913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Batch scheduling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75565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0">
                <a:solidFill>
                  <a:srgbClr val="000000"/>
                </a:solidFill>
                <a:latin typeface="&quot;Yeseva One&quot;"/>
              </a:rPr>
              <a:t>Both approaches deliver complete data quality assurance. Select the method that aligns with your operational requirements.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49300" y="4902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49300" y="5486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49300" y="6070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749300" y="6642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05800" y="4902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05800" y="5486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05800" y="6070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05800" y="6642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3276600"/>
            <a:ext cx="9283700" cy="4267200"/>
          </a:xfrm>
          <a:prstGeom prst="roundRect">
            <a:avLst>
              <a:gd name="adj" fmla="val 178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876300" y="3276600"/>
            <a:ext cx="2882900" cy="4267200"/>
          </a:xfrm>
          <a:prstGeom prst="roundRect">
            <a:avLst>
              <a:gd name="adj" fmla="val 2643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4076700" y="3314700"/>
            <a:ext cx="2882900" cy="4267200"/>
          </a:xfrm>
          <a:prstGeom prst="roundRect">
            <a:avLst>
              <a:gd name="adj" fmla="val 2643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7277100" y="3276600"/>
            <a:ext cx="2882900" cy="4267200"/>
          </a:xfrm>
          <a:prstGeom prst="roundRect">
            <a:avLst>
              <a:gd name="adj" fmla="val 2643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TextBox 9"/>
          <p:cNvSpPr txBox="1"/>
          <p:nvPr/>
        </p:nvSpPr>
        <p:spPr>
          <a:xfrm>
            <a:off x="876300" y="622300"/>
            <a:ext cx="92837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000000"/>
                </a:solidFill>
                <a:latin typeface="&quot;Yeseva One&quot;"/>
              </a:rPr>
              <a:t>From Chaos to Control: Real Outcomes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933450" y="3692525"/>
            <a:ext cx="28829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2ECC71"/>
                </a:solidFill>
                <a:latin typeface="Poppins"/>
              </a:rPr>
              <a:t>Proactive Errors prevented upstream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4076700" y="3726873"/>
            <a:ext cx="28829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2ECC71"/>
                </a:solidFill>
                <a:latin typeface="Poppins"/>
              </a:rPr>
              <a:t>Better Compliance assurance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7305675" y="3678382"/>
            <a:ext cx="28829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2ECC71"/>
                </a:solidFill>
                <a:latin typeface="Poppins"/>
              </a:rPr>
              <a:t>Productivity improvement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876300" y="1993900"/>
            <a:ext cx="92837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&quot;Yeseva One&quot;"/>
              </a:rPr>
              <a:t>SmartDQ enables organizations to shift from reactive issue management to proactive quality governance. The impact is measurable and significant.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50900" y="2965450"/>
            <a:ext cx="3022600" cy="698500"/>
          </a:xfrm>
          <a:prstGeom prst="roundRect">
            <a:avLst>
              <a:gd name="adj" fmla="val 1090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917864" y="5105400"/>
            <a:ext cx="2882900" cy="205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dirty="0">
                <a:solidFill>
                  <a:srgbClr val="000000"/>
                </a:solidFill>
                <a:latin typeface="&quot;Yeseva One&quot;"/>
              </a:rPr>
              <a:t>Issues are detected and resolved before they impact critical systems and downstream processes.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4076700" y="5067300"/>
            <a:ext cx="28829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 dirty="0">
                <a:solidFill>
                  <a:srgbClr val="000000"/>
                </a:solidFill>
                <a:latin typeface="&quot;Yeseva One&quot;"/>
              </a:rPr>
              <a:t>Regulatory reports are backed by systematic, auditable quality checks that withstand scrutiny.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7277100" y="5067300"/>
            <a:ext cx="28829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&quot;Yeseva One&quot;"/>
              </a:rPr>
              <a:t>Teams reduce time spent on data quality investigations, freeing resources for strategic initiatives.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" y="7810500"/>
            <a:ext cx="92837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0">
                <a:solidFill>
                  <a:srgbClr val="000000"/>
                </a:solidFill>
                <a:latin typeface="&quot;Yeseva One&quot;"/>
              </a:rPr>
              <a:t>This represents the business value of systematic data quality management.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32000"/>
            <a:ext cx="14490700" cy="605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5" name="AutoShape 5"/>
          <p:cNvSpPr/>
          <p:nvPr/>
        </p:nvSpPr>
        <p:spPr>
          <a:xfrm>
            <a:off x="876300" y="2387600"/>
            <a:ext cx="4673600" cy="2108200"/>
          </a:xfrm>
          <a:prstGeom prst="roundRect">
            <a:avLst>
              <a:gd name="adj" fmla="val 1807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6311900" y="2933700"/>
            <a:ext cx="3797300" cy="4076700"/>
          </a:xfrm>
          <a:prstGeom prst="roundRect">
            <a:avLst>
              <a:gd name="adj" fmla="val 49773"/>
            </a:avLst>
          </a:prstGeom>
          <a:solidFill>
            <a:srgbClr val="B6CAF2"/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10693400" y="2032000"/>
            <a:ext cx="4673600" cy="1752600"/>
          </a:xfrm>
          <a:prstGeom prst="roundRect">
            <a:avLst>
              <a:gd name="adj" fmla="val 2173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10693400" y="4178300"/>
            <a:ext cx="4673600" cy="1752600"/>
          </a:xfrm>
          <a:prstGeom prst="roundRect">
            <a:avLst>
              <a:gd name="adj" fmla="val 2173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AutoShape 9"/>
          <p:cNvSpPr/>
          <p:nvPr/>
        </p:nvSpPr>
        <p:spPr>
          <a:xfrm>
            <a:off x="10693400" y="6324600"/>
            <a:ext cx="4673600" cy="1752600"/>
          </a:xfrm>
          <a:prstGeom prst="roundRect">
            <a:avLst>
              <a:gd name="adj" fmla="val 2173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0" name="AutoShape 10"/>
          <p:cNvSpPr/>
          <p:nvPr/>
        </p:nvSpPr>
        <p:spPr>
          <a:xfrm>
            <a:off x="876300" y="5791200"/>
            <a:ext cx="4673600" cy="1752600"/>
          </a:xfrm>
          <a:prstGeom prst="roundRect">
            <a:avLst>
              <a:gd name="adj" fmla="val 2173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1" name="TextBox 11"/>
          <p:cNvSpPr txBox="1"/>
          <p:nvPr/>
        </p:nvSpPr>
        <p:spPr>
          <a:xfrm>
            <a:off x="876300" y="533400"/>
            <a:ext cx="14490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000" b="1">
                <a:solidFill>
                  <a:srgbClr val="000000"/>
                </a:solidFill>
                <a:latin typeface="&quot;Yeseva One&quot;"/>
              </a:rPr>
              <a:t>The Ripple Effect: Organization-Wide Impact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2578100"/>
            <a:ext cx="41656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Yeseva One&quot;"/>
              </a:rPr>
              <a:t>Compliance &amp; Risk Teams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0934700" y="2222500"/>
            <a:ext cx="4165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Yeseva One&quot;"/>
              </a:rPr>
              <a:t>Analytics &amp; BI Teams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34700" y="4368800"/>
            <a:ext cx="4165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Yeseva One&quot;"/>
              </a:rPr>
              <a:t>Operations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0934700" y="6527800"/>
            <a:ext cx="4165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Yeseva One&quot;"/>
              </a:rPr>
              <a:t>Business Leaders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5981700"/>
            <a:ext cx="4165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&quot;Yeseva One&quot;"/>
              </a:rPr>
              <a:t>IT Teams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12192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Data quality improvements benefit the entire organization. Each team gains measurable value from systematic quality governance.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3429000"/>
            <a:ext cx="4165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Regulatory reporting confidence through verifiable, auditable data quality controls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11900" y="4533900"/>
            <a:ext cx="3797300" cy="105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Data Quality Benefits Flow Across the Organization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934700" y="2705100"/>
            <a:ext cx="4165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Trusted data foundation for reliable insights and business intelligence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34700" y="4864100"/>
            <a:ext cx="4165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Reduced operational disruptions through upstream issue detection and prevention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934700" y="7010400"/>
            <a:ext cx="4165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Informed decision-making backed by reliable, quality-assured data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6477000"/>
            <a:ext cx="4165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Shift from reactive incident management to proactive quality architecture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" y="8305800"/>
            <a:ext cx="14490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0">
                <a:solidFill>
                  <a:srgbClr val="000000"/>
                </a:solidFill>
                <a:latin typeface="&quot;Yeseva One&quot;"/>
              </a:rPr>
              <a:t>Enterprise data quality creates value across all business functions and operational units.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41500"/>
            <a:ext cx="14490700" cy="825500"/>
          </a:xfrm>
          <a:prstGeom prst="roundRect">
            <a:avLst>
              <a:gd name="adj" fmla="val 769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5" name="AutoShape 5"/>
          <p:cNvSpPr/>
          <p:nvPr/>
        </p:nvSpPr>
        <p:spPr>
          <a:xfrm>
            <a:off x="876300" y="1841500"/>
            <a:ext cx="3378200" cy="825500"/>
          </a:xfrm>
          <a:prstGeom prst="roundRect">
            <a:avLst>
              <a:gd name="adj" fmla="val 769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AutoShape 6"/>
          <p:cNvSpPr/>
          <p:nvPr/>
        </p:nvSpPr>
        <p:spPr>
          <a:xfrm>
            <a:off x="4572000" y="1841500"/>
            <a:ext cx="3378200" cy="825500"/>
          </a:xfrm>
          <a:prstGeom prst="roundRect">
            <a:avLst>
              <a:gd name="adj" fmla="val 769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7" name="AutoShape 7"/>
          <p:cNvSpPr/>
          <p:nvPr/>
        </p:nvSpPr>
        <p:spPr>
          <a:xfrm>
            <a:off x="8280400" y="1841500"/>
            <a:ext cx="3378200" cy="825500"/>
          </a:xfrm>
          <a:prstGeom prst="roundRect">
            <a:avLst>
              <a:gd name="adj" fmla="val 769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8" name="AutoShape 8"/>
          <p:cNvSpPr/>
          <p:nvPr/>
        </p:nvSpPr>
        <p:spPr>
          <a:xfrm>
            <a:off x="11976100" y="1841500"/>
            <a:ext cx="3378200" cy="825500"/>
          </a:xfrm>
          <a:prstGeom prst="roundRect">
            <a:avLst>
              <a:gd name="adj" fmla="val 769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9" name="AutoShape 9"/>
          <p:cNvSpPr/>
          <p:nvPr/>
        </p:nvSpPr>
        <p:spPr>
          <a:xfrm>
            <a:off x="876300" y="2806700"/>
            <a:ext cx="14490700" cy="488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10" name="AutoShape 10"/>
          <p:cNvSpPr/>
          <p:nvPr/>
        </p:nvSpPr>
        <p:spPr>
          <a:xfrm>
            <a:off x="876300" y="2806700"/>
            <a:ext cx="4660900" cy="4889500"/>
          </a:xfrm>
          <a:prstGeom prst="roundRect">
            <a:avLst>
              <a:gd name="adj" fmla="val 1089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1" name="AutoShape 11"/>
          <p:cNvSpPr/>
          <p:nvPr/>
        </p:nvSpPr>
        <p:spPr>
          <a:xfrm>
            <a:off x="1130300" y="3530600"/>
            <a:ext cx="12700" cy="2476500"/>
          </a:xfrm>
          <a:prstGeom prst="rect">
            <a:avLst/>
          </a:prstGeom>
          <a:solidFill>
            <a:srgbClr val="B1C9F9"/>
          </a:solidFill>
        </p:spPr>
        <p:txBody>
          <a:bodyPr/>
          <a:lstStyle/>
          <a:p>
            <a:endParaRPr lang="en-SG"/>
          </a:p>
        </p:txBody>
      </p:sp>
      <p:sp>
        <p:nvSpPr>
          <p:cNvPr id="12" name="AutoShape 12"/>
          <p:cNvSpPr/>
          <p:nvPr/>
        </p:nvSpPr>
        <p:spPr>
          <a:xfrm>
            <a:off x="5791200" y="2806700"/>
            <a:ext cx="4660900" cy="4889500"/>
          </a:xfrm>
          <a:prstGeom prst="roundRect">
            <a:avLst>
              <a:gd name="adj" fmla="val 1089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3" name="AutoShape 13"/>
          <p:cNvSpPr/>
          <p:nvPr/>
        </p:nvSpPr>
        <p:spPr>
          <a:xfrm>
            <a:off x="6045200" y="3530600"/>
            <a:ext cx="12700" cy="2171700"/>
          </a:xfrm>
          <a:prstGeom prst="rect">
            <a:avLst/>
          </a:prstGeom>
          <a:solidFill>
            <a:srgbClr val="B1C9F9"/>
          </a:solidFill>
        </p:spPr>
        <p:txBody>
          <a:bodyPr/>
          <a:lstStyle/>
          <a:p>
            <a:endParaRPr lang="en-SG"/>
          </a:p>
        </p:txBody>
      </p:sp>
      <p:sp>
        <p:nvSpPr>
          <p:cNvPr id="14" name="AutoShape 14"/>
          <p:cNvSpPr/>
          <p:nvPr/>
        </p:nvSpPr>
        <p:spPr>
          <a:xfrm>
            <a:off x="10706100" y="2806700"/>
            <a:ext cx="4660900" cy="4889500"/>
          </a:xfrm>
          <a:prstGeom prst="roundRect">
            <a:avLst>
              <a:gd name="adj" fmla="val 1089"/>
            </a:avLst>
          </a:prstGeom>
          <a:solidFill>
            <a:srgbClr val="D4E2FF"/>
          </a:solidFill>
        </p:spPr>
        <p:txBody>
          <a:bodyPr/>
          <a:lstStyle/>
          <a:p>
            <a:endParaRPr lang="en-SG"/>
          </a:p>
        </p:txBody>
      </p:sp>
      <p:sp>
        <p:nvSpPr>
          <p:cNvPr id="15" name="AutoShape 15"/>
          <p:cNvSpPr/>
          <p:nvPr/>
        </p:nvSpPr>
        <p:spPr>
          <a:xfrm>
            <a:off x="10960100" y="3911600"/>
            <a:ext cx="12700" cy="2171700"/>
          </a:xfrm>
          <a:prstGeom prst="rect">
            <a:avLst/>
          </a:prstGeom>
          <a:solidFill>
            <a:srgbClr val="B1C9F9"/>
          </a:solidFill>
        </p:spPr>
        <p:txBody>
          <a:bodyPr/>
          <a:lstStyle/>
          <a:p>
            <a:endParaRPr lang="en-SG"/>
          </a:p>
        </p:txBody>
      </p:sp>
      <p:sp>
        <p:nvSpPr>
          <p:cNvPr id="16" name="TextBox 16"/>
          <p:cNvSpPr txBox="1"/>
          <p:nvPr/>
        </p:nvSpPr>
        <p:spPr>
          <a:xfrm>
            <a:off x="876300" y="5588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&quot;Yeseva One&quot;"/>
              </a:rPr>
              <a:t>Why SmartDQ at CACIB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23495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Quality Dimensions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72000" y="23495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5-Pillar Structure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280400" y="23495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Data Sources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976100" y="2349500"/>
            <a:ext cx="3378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&quot;Yeseva One&quot;"/>
              </a:rPr>
              <a:t>Integration Patterns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30226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Scalable Architecture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045200" y="30226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Complete Visibility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960100" y="3022600"/>
            <a:ext cx="41529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&quot;Yeseva One&quot;"/>
              </a:rPr>
              <a:t>Enterprise Integration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" y="1295400"/>
            <a:ext cx="14490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SmartDQ is built for enterprise complexity. By the numbers, here's why CACIB teams trust this solution.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6300" y="1854200"/>
            <a:ext cx="3543300" cy="469900"/>
          </a:xfrm>
          <a:prstGeom prst="roundRect">
            <a:avLst>
              <a:gd name="adj" fmla="val 16216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7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4572000" y="1854200"/>
            <a:ext cx="3556000" cy="469900"/>
          </a:xfrm>
          <a:prstGeom prst="roundRect">
            <a:avLst>
              <a:gd name="adj" fmla="val 16216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5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280400" y="1854200"/>
            <a:ext cx="3543300" cy="469900"/>
          </a:xfrm>
          <a:prstGeom prst="roundRect">
            <a:avLst>
              <a:gd name="adj" fmla="val 16216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∞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976100" y="1854200"/>
            <a:ext cx="3556000" cy="469900"/>
          </a:xfrm>
          <a:prstGeom prst="roundRect">
            <a:avLst>
              <a:gd name="adj" fmla="val 16216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2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2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384300" y="3530600"/>
            <a:ext cx="3898900" cy="247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Containerized, cloud-ready infrastructure that scales with organizational growth and evolving data volumes. Supports horizontal scaling and external computation offload for performance optimization.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384300" y="61849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Horizontal scaling capability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384300" y="66548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External computation offload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384300" y="71374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Modern cloud-ready design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299200" y="3530600"/>
            <a:ext cx="38989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Self-service analytics and reporting dashboards provide users at all levels with necessary visibility. Real-time alerts, case management, and customizable KPIs enable data-driven decision making.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299200" y="58674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Custom analytics &amp; reports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6299200" y="63500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Real-time alert blotter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6299200" y="68199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Case management system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1214100" y="3911600"/>
            <a:ext cx="38989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Seamless integration with Collibra, SQL databases, Kafka, and modern BI/ELK platforms. API-first architecture ensures compatibility with your existing technology stack.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1214100" y="62484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Collibra metadata sync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1214100" y="67183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Multi-source connectivity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1214100" y="7200900"/>
            <a:ext cx="3898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API-first architecture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76300" y="7950200"/>
            <a:ext cx="14490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>
                <a:solidFill>
                  <a:srgbClr val="000000"/>
                </a:solidFill>
                <a:latin typeface="&quot;Yeseva One&quot;"/>
              </a:rPr>
              <a:t>SmartDQ is architected for enterprise deployment at CACIB: scalable, fully integrated, and designed for organizational impact.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1003300" y="62357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1003300" y="6705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1003300" y="7188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5918200" y="5918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5918200" y="64008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5918200" y="68707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0833100" y="62865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0833100" y="67691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10833100" y="7239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SG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2000" b="32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876300" y="3289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&quot;Yeseva One&quot;"/>
              </a:rPr>
              <a:t>Join the Data Quality Revolution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3307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&quot;Yeseva One&quot;"/>
              </a:rPr>
              <a:t>Your organization's data quality transformation starts now. SmartDQ provides the framework, tools, and intelligence needed to build a sustainable, high-quality data foundation at CACIB. Let's begin.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943</Words>
  <Application>Microsoft Office PowerPoint</Application>
  <PresentationFormat>Custom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"Yeseva One"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PRASHANT MALAN .</cp:lastModifiedBy>
  <cp:revision>4</cp:revision>
  <dcterms:created xsi:type="dcterms:W3CDTF">2006-08-16T00:00:00Z</dcterms:created>
  <dcterms:modified xsi:type="dcterms:W3CDTF">2026-01-22T06:57:59Z</dcterms:modified>
</cp:coreProperties>
</file>